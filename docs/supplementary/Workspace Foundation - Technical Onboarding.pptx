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Fira Code" panose="020F0502020204030204" pitchFamily="49" charset="0"/>
      <p:regular r:id="rId17"/>
      <p:bold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240559"/>
            <a:ext cx="10668000" cy="74667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870769"/>
            <a:ext cx="11201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WORKSPACE FOUNDATION: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TECHNICAL ONBOARDING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432869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Escalando el desarrollo con IA, Estándares y Automatización.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90625" y="4431059"/>
            <a:ext cx="9858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8C00"/>
                </a:solidFill>
                <a:latin typeface="Fira Code"/>
                <a:ea typeface="Fira Code"/>
                <a:cs typeface="Fira Code"/>
                <a:sym typeface="Fira Code"/>
              </a:rPr>
              <a:t>"De la configuración al primer commit en 5 minutos"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26022"/>
            <a:ext cx="3365450" cy="254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226022"/>
            <a:ext cx="3365450" cy="254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226022"/>
            <a:ext cx="3365599" cy="254109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148113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Impacto Final: Eliminación total del fatídico "en mi máquina funciona".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3083272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SISTEMA DE PLANTILLAS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57275" y="3483322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Bootstrap automático de entornos replicables y consistentes para todo el equipo.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08475" y="3083272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ORQUESTADOR DE IA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708475" y="3483322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Capa de abstracción avanzada para Claude, OpenAI y modelos locales (Ollama).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59675" y="3083272"/>
            <a:ext cx="291380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GUARDIANES DE CALIDAD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59675" y="3740497"/>
            <a:ext cx="277504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Hooks de Git integrados que auditan automáticamente el código antes de cada push.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54987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8475" y="254987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54987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¿QUÉ ES REALMENTE WORKSPACE FOUNDATION?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44017"/>
            <a:ext cx="51435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44017"/>
            <a:ext cx="51435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029967"/>
            <a:ext cx="51435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029967"/>
            <a:ext cx="5143500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57275" y="2439292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Tokens: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La moneda de cambio. </a:t>
            </a:r>
            <a:r>
              <a:rPr lang="en-US" sz="15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1 token ≈ 4 caracteres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. Influye directamente en costos y límites.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81775" y="2439292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Context Window: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La "RAM" de la IA. Claude 3.5 maneja hasta </a:t>
            </a:r>
            <a:r>
              <a:rPr lang="en-US" sz="15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200k tokens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de contexto.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57275" y="4325242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Temperature: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Control de entropía. </a:t>
            </a:r>
            <a:r>
              <a:rPr lang="en-US" sz="15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0 = Precisión/Código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; 1 = Creatividad/Brainstorming.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81775" y="4325242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Prompt Engineering: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El contexto es el rey. A mayor detalle técnico, mejor será el output generado.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CONCEPTOS CORE DE IA PARA DEVS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22240"/>
            <a:ext cx="3365450" cy="1834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922240"/>
            <a:ext cx="3365450" cy="1834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922240"/>
            <a:ext cx="3365599" cy="183430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1057275" y="3217515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OPCIÓN A: CLOUD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57275" y="3617565"/>
            <a:ext cx="2774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Anthropic (Recomendado), OpenAI o Gemini.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57275" y="4248001"/>
            <a:ext cx="27749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MÁXIMA POTENCIA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08475" y="3217515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OPCIÓN B: LOCAL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708475" y="3617565"/>
            <a:ext cx="2774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Ollama 100% offline. $0 costos, total privacidad de código.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708475" y="4248001"/>
            <a:ext cx="27749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PRIVACIDAD TOTAL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359675" y="3217515"/>
            <a:ext cx="29138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OPCIÓN C: HÍBRIDO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59675" y="3617565"/>
            <a:ext cx="27750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Cloud como motor primario con local como fallback automático.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59675" y="4248001"/>
            <a:ext cx="27750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RESILIENCIA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CONFIGURACIÓN DEL MOTOR DE IA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48000"/>
            <a:ext cx="2524125" cy="158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625" y="3048000"/>
            <a:ext cx="2524125" cy="158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048000"/>
            <a:ext cx="2524125" cy="158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5875" y="3048000"/>
            <a:ext cx="2524125" cy="158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057275" y="3343275"/>
            <a:ext cx="203025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57275" y="3695700"/>
            <a:ext cx="193357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CLI para generación de código, debugging y refactor profundo.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3771900" y="3343275"/>
            <a:ext cx="203025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771900" y="3695700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Interfaz multi-modelo para cambiar de IA según la tarea.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486525" y="3343275"/>
            <a:ext cx="203025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GENTLE-AI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486525" y="3695700"/>
            <a:ext cx="1933575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Asistente contextual que "entiende" la arquitectura del proyecto.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201150" y="3343275"/>
            <a:ext cx="203025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GGA (GUARDIAN)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201150" y="3695700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Tu red de seguridad crítica en cada commit realizado.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TU TOOLBOX DE IA INTEGRADA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34517"/>
            <a:ext cx="50958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182242"/>
            <a:ext cx="509587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334767"/>
            <a:ext cx="509587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725167"/>
            <a:ext cx="509587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6334125" y="322986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Comando de emergencia (Solo excepciones):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62025" y="2534542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1. Git Commit: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El dev intenta subir código.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000125" y="3382267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2. Review IA: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GGA analiza lógica, estándares y seguridad.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62025" y="4534792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3. Feedback: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Aprobación o bloqueo con sugerencias.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GGA: EL PROCESO DE CODE REVIEW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851820"/>
            <a:ext cx="32004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600" y="3851820"/>
            <a:ext cx="32004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6450" y="268024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68024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44050" y="268024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62000" y="5074741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"Métricas generadas sin intervención manual".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762000" y="3677468"/>
            <a:ext cx="1066800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81990" y="3489870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BOOTSTRAP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4480470"/>
            <a:ext cx="3200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Prepara el entorno.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4415790" y="3489870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DESARROLLO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495800" y="3804195"/>
            <a:ext cx="3200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IA tools + Gentleman-Skills para patrones comunes.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149590" y="3489870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FINALIZE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229600" y="4480470"/>
            <a:ext cx="3200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Genera métricas y limpia estado.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EL FLUJO DE TRABAJO DIARIO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029075"/>
            <a:ext cx="5143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029075"/>
            <a:ext cx="5143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38175"/>
            <a:ext cx="1066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495300" y="2066925"/>
            <a:ext cx="112014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NUNCA ENVÍES SECRETOS A LA IA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59150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Las llaves residen en </a:t>
            </a:r>
            <a:r>
              <a:rPr lang="en-US" sz="15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.env</a:t>
            </a: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(gitignored) y nunca salen de tu máquina.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095375" y="4324350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BLOQUEADO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095375" y="47244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API Keys, tokens, PII (datos de usuarios), passwords.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19875" y="4324350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PERMITIDO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619875" y="47244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Lógica de código, errores técnicos, estructuras JSON.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940" y="1747241"/>
            <a:ext cx="4911472" cy="1966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093" y="4020442"/>
            <a:ext cx="4820411" cy="1966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801242"/>
            <a:ext cx="504825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857250" y="2028228"/>
            <a:ext cx="46805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CARPETA .AUDIT/</a:t>
            </a:r>
            <a:endParaRPr dirty="0"/>
          </a:p>
        </p:txBody>
      </p:sp>
      <p:sp>
        <p:nvSpPr>
          <p:cNvPr id="220" name="Google Shape;220;p21"/>
          <p:cNvSpPr txBox="1"/>
          <p:nvPr/>
        </p:nvSpPr>
        <p:spPr>
          <a:xfrm>
            <a:off x="809625" y="259579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Registro local de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actividad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, tokens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usados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archivos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modificados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21" name="Google Shape;221;p21"/>
          <p:cNvSpPr txBox="1"/>
          <p:nvPr/>
        </p:nvSpPr>
        <p:spPr>
          <a:xfrm>
            <a:off x="939165" y="4481512"/>
            <a:ext cx="46805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REPORTES SEMANALES</a:t>
            </a:r>
            <a:endParaRPr dirty="0"/>
          </a:p>
        </p:txBody>
      </p:sp>
      <p:sp>
        <p:nvSpPr>
          <p:cNvPr id="222" name="Google Shape;222;p21"/>
          <p:cNvSpPr txBox="1"/>
          <p:nvPr/>
        </p:nvSpPr>
        <p:spPr>
          <a:xfrm>
            <a:off x="945832" y="5003898"/>
            <a:ext cx="4457700" cy="36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Resúmenes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automáticos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para Technical Leads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sobre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progreso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eficiencia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23" name="Google Shape;223;p21"/>
          <p:cNvSpPr txBox="1"/>
          <p:nvPr/>
        </p:nvSpPr>
        <p:spPr>
          <a:xfrm>
            <a:off x="6781800" y="3201292"/>
            <a:ext cx="44605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PRIVACIDAD DE CÓDIGO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781800" y="3563242"/>
            <a:ext cx="4248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Solo se capturan metadatos de actividad para auditoría, nunca el contenido del código sensible o lógica de negocio propietaria.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AUDITORÍA Y TRANSPARENCIA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/>
          <p:nvPr/>
        </p:nvSpPr>
        <p:spPr>
          <a:xfrm>
            <a:off x="762000" y="2477392"/>
            <a:ext cx="10668000" cy="781050"/>
          </a:xfrm>
          <a:prstGeom prst="roundRect">
            <a:avLst>
              <a:gd name="adj" fmla="val 14634"/>
            </a:avLst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62000" y="3448942"/>
            <a:ext cx="10668000" cy="781050"/>
          </a:xfrm>
          <a:prstGeom prst="roundRect">
            <a:avLst>
              <a:gd name="adj" fmla="val 14634"/>
            </a:avLst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62000" y="4420492"/>
            <a:ext cx="10668000" cy="781050"/>
          </a:xfrm>
          <a:prstGeom prst="roundRect">
            <a:avLst>
              <a:gd name="adj" fmla="val 14634"/>
            </a:avLst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1571625" y="2715517"/>
            <a:ext cx="7572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Alucinaciones: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La IA asiste, el humano decide. Siempre validar el output generado.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571625" y="3687067"/>
            <a:ext cx="798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Vendor Lock-in: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Cambiamos de proveedor de IA simplemente editando un archivo .env.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533525" y="4658617"/>
            <a:ext cx="82962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Calidad: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GGA garantiza que la velocidad de la IA no degrade nuestros estándares técnicos.</a:t>
            </a:r>
            <a:endParaRPr/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272028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0125" y="369183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4663380"/>
            <a:ext cx="2476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MITIGACIÓN DE RIESGOS TÉCNICOS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9447"/>
            <a:ext cx="2524125" cy="176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625" y="2959447"/>
            <a:ext cx="2524125" cy="176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959447"/>
            <a:ext cx="2524125" cy="1760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5875" y="2959447"/>
            <a:ext cx="2524125" cy="176004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1057275" y="3254722"/>
            <a:ext cx="19335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&lt;15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057275" y="3997672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Minutos de Setup para cualquier proyecto.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3771900" y="3254722"/>
            <a:ext cx="19335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+25%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3771900" y="3997672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Incremento en velocidad de entrega.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486525" y="3254722"/>
            <a:ext cx="19335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QA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486525" y="3997672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Reducción drástica de bugs detectados.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9201150" y="3254722"/>
            <a:ext cx="193357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8C00"/>
                </a:solidFill>
                <a:latin typeface="Montserrat"/>
                <a:ea typeface="Montserrat"/>
                <a:cs typeface="Montserrat"/>
                <a:sym typeface="Montserrat"/>
              </a:rPr>
              <a:t>DAILY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9201150" y="3997672"/>
            <a:ext cx="193357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Uso activo de las herramientas Foundation.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LO QUE ESPERAMOS DE TI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6450" y="325472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0" y="325472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44050" y="325472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/>
          <p:nvPr/>
        </p:nvSpPr>
        <p:spPr>
          <a:xfrm>
            <a:off x="762000" y="4020442"/>
            <a:ext cx="1066800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681990" y="4064347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ONBOARDING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762000" y="4378672"/>
            <a:ext cx="3200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Configuración técnica de API Keys y Ollama local.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4415790" y="4064347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PILOTO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4495800" y="4378672"/>
            <a:ext cx="3200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Uso intensivo en proyectos clave y feedback de Champions.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8149590" y="4064347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ROLLOUT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8229600" y="4378672"/>
            <a:ext cx="32004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Despliegue global y optimización de habilidades (Skills).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1000125" y="571500"/>
            <a:ext cx="10951368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ROADMAP DE IMPLEMENTACIÓN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762000" y="5715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495300" y="1415504"/>
            <a:ext cx="11201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¡LISTOS PARA EMPEZAR!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762000" y="4711154"/>
            <a:ext cx="10668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"LA INGENIERÍA DEL FUTURO SE CONSTRUYE CON IA, PERO SE VALIDA CON EXCELENCIA"</a:t>
            </a:r>
            <a:endParaRPr/>
          </a:p>
        </p:txBody>
      </p:sp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7013" y="2834729"/>
            <a:ext cx="295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057275" y="3330029"/>
            <a:ext cx="2774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Link al Repositorio Central</a:t>
            </a:r>
            <a:endParaRPr/>
          </a:p>
        </p:txBody>
      </p:sp>
      <p:pic>
        <p:nvPicPr>
          <p:cNvPr id="288" name="Google Shape;28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81551" y="2834729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4708475" y="3330029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Lee TECHNICAL-ONBOARDING.md</a:t>
            </a:r>
            <a:endParaRPr/>
          </a:p>
        </p:txBody>
      </p:sp>
      <p:pic>
        <p:nvPicPr>
          <p:cNvPr id="290" name="Google Shape;29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75750" y="2834729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8359675" y="3330029"/>
            <a:ext cx="2775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Run init-workspace.ps1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/>
          <p:nvPr/>
        </p:nvSpPr>
        <p:spPr>
          <a:xfrm>
            <a:off x="762000" y="2468909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762000" y="345177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4167532" y="2479957"/>
            <a:ext cx="10951368" cy="53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¿</a:t>
            </a:r>
            <a:r>
              <a:rPr lang="en-US" sz="3150" b="1" i="0" u="none" strike="noStrike" cap="none" dirty="0" err="1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Preguntas</a:t>
            </a:r>
            <a:r>
              <a:rPr lang="en-US" sz="3150" b="1" i="0" u="none" strike="noStrike" cap="none" dirty="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dirty="0"/>
          </a:p>
        </p:txBody>
      </p:sp>
      <p:sp>
        <p:nvSpPr>
          <p:cNvPr id="313" name="Google Shape;313;p26"/>
          <p:cNvSpPr/>
          <p:nvPr/>
        </p:nvSpPr>
        <p:spPr>
          <a:xfrm>
            <a:off x="4072282" y="2526600"/>
            <a:ext cx="95250" cy="43993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3A2D1CC-BE2A-0061-F58B-9F95A27C4782}"/>
              </a:ext>
            </a:extLst>
          </p:cNvPr>
          <p:cNvSpPr txBox="1"/>
          <p:nvPr/>
        </p:nvSpPr>
        <p:spPr>
          <a:xfrm>
            <a:off x="108407" y="3397069"/>
            <a:ext cx="112772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EC8"/>
                </a:solidFill>
                <a:latin typeface="Calibri"/>
              </a:defRPr>
            </a:pPr>
            <a:r>
              <a:rPr dirty="0"/>
              <a:t>Workspace Foundation</a:t>
            </a:r>
            <a:br>
              <a:rPr dirty="0"/>
            </a:br>
            <a:r>
              <a:rPr dirty="0" err="1"/>
              <a:t>Estandarizar</a:t>
            </a:r>
            <a:r>
              <a:rPr dirty="0"/>
              <a:t>. </a:t>
            </a:r>
            <a:r>
              <a:rPr dirty="0" err="1"/>
              <a:t>Acelerar</a:t>
            </a:r>
            <a:r>
              <a:rPr dirty="0"/>
              <a:t>. </a:t>
            </a:r>
            <a:r>
              <a:rPr dirty="0" err="1"/>
              <a:t>Medir</a:t>
            </a:r>
            <a:r>
              <a:rPr dirty="0"/>
              <a:t>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5563AA-DB24-58AE-01A3-A5A6BBD5D29B}"/>
              </a:ext>
            </a:extLst>
          </p:cNvPr>
          <p:cNvSpPr/>
          <p:nvPr/>
        </p:nvSpPr>
        <p:spPr>
          <a:xfrm>
            <a:off x="4680406" y="4966997"/>
            <a:ext cx="2133295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D8FA5F5-1D55-D0EF-C39C-987B85DB6C12}"/>
              </a:ext>
            </a:extLst>
          </p:cNvPr>
          <p:cNvSpPr txBox="1"/>
          <p:nvPr/>
        </p:nvSpPr>
        <p:spPr>
          <a:xfrm>
            <a:off x="2394405" y="5743174"/>
            <a:ext cx="6705295" cy="3693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dirty="0"/>
              <a:t>Podemos </a:t>
            </a:r>
            <a:r>
              <a:rPr dirty="0" err="1"/>
              <a:t>iniciar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1 </a:t>
            </a:r>
            <a:r>
              <a:rPr dirty="0" err="1"/>
              <a:t>semana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Panorámica</PresentationFormat>
  <Paragraphs>89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Montserrat</vt:lpstr>
      <vt:lpstr>Calibri</vt:lpstr>
      <vt:lpstr>Fira Code</vt:lpstr>
      <vt:lpstr>Arial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Emmanuel Ortiz Gutierrez</cp:lastModifiedBy>
  <cp:revision>1</cp:revision>
  <dcterms:modified xsi:type="dcterms:W3CDTF">2026-04-09T15:19:53Z</dcterms:modified>
</cp:coreProperties>
</file>