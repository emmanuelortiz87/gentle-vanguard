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Lato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Lato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73449A-9029-4E20-9EE8-6A2E4B6EAA5B}">
  <a:tblStyle styleId="{6073449A-9029-4E20-9EE8-6A2E4B6EAA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Light-italic.fntdata"/><Relationship Id="rId30" Type="http://schemas.openxmlformats.org/officeDocument/2006/relationships/font" Target="fonts/LatoLigh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LatoLigh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52500" y="2191791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CONSEJO DIRECTIVO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52500" y="2544216"/>
            <a:ext cx="1120140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WORKSPACE FOUNDATION: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ESCALANDO LA EXCELENCIA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90625" y="4123283"/>
            <a:ext cx="10429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F2F2F2"/>
                </a:solidFill>
                <a:latin typeface="Lato Light"/>
                <a:ea typeface="Lato Light"/>
                <a:cs typeface="Lato Light"/>
                <a:sym typeface="Lato Light"/>
              </a:rPr>
              <a:t>"No solo construimos código; construimos la plataforma para escalar nuestra ingeniería"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952500" y="4123283"/>
            <a:ext cx="28575" cy="40005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5450"/>
            <a:ext cx="53340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95450"/>
            <a:ext cx="53340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57650"/>
            <a:ext cx="53340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057650"/>
            <a:ext cx="53340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66775" y="1990725"/>
            <a:ext cx="47434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3038475"/>
            <a:ext cx="4743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Reducción en tiempos de setup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81775" y="1990725"/>
            <a:ext cx="47434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30%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3038475"/>
            <a:ext cx="4743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Aumento en productividad neta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4352925"/>
            <a:ext cx="47434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$0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5400675"/>
            <a:ext cx="4743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Costos de licenciamiento plataforma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81775" y="4352925"/>
            <a:ext cx="47434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1-Click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81775" y="5400675"/>
            <a:ext cx="4743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Onboarding instantáneo de talento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RESUMEN EJECUTIVO: IMPACTO DIRECTO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1962150"/>
            <a:ext cx="52863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"Estamos perdiendo </a:t>
            </a:r>
            <a:r>
              <a:rPr b="1" i="1" lang="en-US" sz="18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4 horas de innovación</a:t>
            </a:r>
            <a:r>
              <a:rPr b="0" i="1" lang="en-US" sz="18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por cada desarrollador en tareas repetitivas"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52500" y="293370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Configuración manual inconsistente entre equipos técnicos.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3800475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Fragmentación de herramientas y ausencia de estándares.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466725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Riesgos de seguridad por fuga de secretos en el código.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PROBLEMA: FRICCIÓN SILENCIOSA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7180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3857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05350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52737"/>
            <a:ext cx="3492549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852737"/>
            <a:ext cx="3492549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852737"/>
            <a:ext cx="3492549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66775" y="3814762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ESTANDARIZACIÓN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66775" y="4167187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Elimina el "en mi máquina funciona" mediante entornos agnósticos y replicables.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45074" y="3814762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ACELERACIÓN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45074" y="4167187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Transforma el onboarding de días a solo minutos, habilitando al talento de inmediato.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423374" y="3814762"/>
            <a:ext cx="30470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CALIDAD CONTINUA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423374" y="4167187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Revisión automatizada de cada línea de código antes del repositorio principal.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186112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3186112"/>
            <a:ext cx="3048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571500"/>
            <a:ext cx="1140142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SOLUCIÓN: FÁBRICA DE SOFTWARE AUTOMATIZADA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571500"/>
            <a:ext cx="57150" cy="990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6715125" y="211455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Capa Base (Foundation):</a:t>
            </a:r>
            <a:r>
              <a:rPr b="0" i="0" lang="en-US" sz="16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Automatización e infraestructura de bajo nivel.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15125" y="2981325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Capa de Herramientas:</a:t>
            </a:r>
            <a:r>
              <a:rPr b="0" i="0" lang="en-US" sz="16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Memoria de IA (Engram) y Guardianes de Calidad (GGA).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715125" y="384810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Valor de Negocio:</a:t>
            </a:r>
            <a:r>
              <a:rPr b="0" i="0" lang="en-US" sz="16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Entrega acelerada de proyectos y productos finales.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ARQUITECTURA ESTRATÉGICA EN 3 NIVELES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15265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01942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886200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47837"/>
            <a:ext cx="42672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1747837"/>
            <a:ext cx="64008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91062"/>
            <a:ext cx="110490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866775" y="2747962"/>
            <a:ext cx="386048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MULTI-PROVIDER AI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66775" y="3100387"/>
            <a:ext cx="36766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Compatible con Claude, OpenAI y modelos locales (Ollama), evitando dependencia de un solo proveedor.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514975" y="2747962"/>
            <a:ext cx="610076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GENTLEMAN GUARDIAN ANGEL (GGA)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514975" y="3100387"/>
            <a:ext cx="5810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Code review automático con IA para asegurar seguridad y estándares antes de cada commit.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66775" y="4986337"/>
            <a:ext cx="1098137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AGNOSTICISMO TOTAL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66775" y="5291137"/>
            <a:ext cx="10458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Funcionalidad idéntica en entornos Windows, Mac o Linux, garantizando la movilidad del desarrollador.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119312"/>
            <a:ext cx="504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14975" y="2119312"/>
            <a:ext cx="3524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CAPACIDADES Y VENTAJAS COMPETITIVAS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3933825" y="2138362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Propiedad intelectual propia vs. Dependencia de terceros</a:t>
            </a:r>
            <a:endParaRPr/>
          </a:p>
        </p:txBody>
      </p:sp>
      <p:graphicFrame>
        <p:nvGraphicFramePr>
          <p:cNvPr id="181" name="Google Shape;181;p19"/>
          <p:cNvGraphicFramePr/>
          <p:nvPr/>
        </p:nvGraphicFramePr>
        <p:xfrm>
          <a:off x="2166937" y="2586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{6073449A-9029-4E20-9EE8-6A2E4B6EAA5B}</a:tableStyleId>
              </a:tblPr>
              <a:tblGrid>
                <a:gridCol w="1409700"/>
                <a:gridCol w="1733550"/>
                <a:gridCol w="2143125"/>
                <a:gridCol w="2571750"/>
              </a:tblGrid>
              <a:tr h="60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6B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Criterio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6B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Status Quo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6B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Copilot / Amazon 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6B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Workspace Foundation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00"/>
                    </a:solidFill>
                  </a:tcPr>
                </a:tc>
              </a:tr>
              <a:tr h="60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Coste Licencia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$0 (Incapacidad)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$19-30/mes/user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6B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$0 (Open Source/Custom)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00"/>
                    </a:solidFill>
                  </a:tcPr>
                </a:tc>
              </a:tr>
              <a:tr h="60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Gobernanza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Limitada (Cerrada)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Auditoría Nativa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00"/>
                    </a:solidFill>
                  </a:tcPr>
                </a:tc>
              </a:tr>
              <a:tr h="60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IP &amp; Lock-in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Dependencia 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Alto Vendor Lock-in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6B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Propiedad Corporativa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00"/>
                    </a:solidFill>
                  </a:tcPr>
                </a:tc>
              </a:tr>
              <a:tr h="60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Privacidad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Sujeta a Terceros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2F2F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 Local/Híbrido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B00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19"/>
          <p:cNvSpPr/>
          <p:nvPr/>
        </p:nvSpPr>
        <p:spPr>
          <a:xfrm>
            <a:off x="2166937" y="3152775"/>
            <a:ext cx="14097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3576637" y="3152775"/>
            <a:ext cx="1733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310187" y="3152775"/>
            <a:ext cx="21431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453312" y="3152775"/>
            <a:ext cx="2571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2166937" y="3762375"/>
            <a:ext cx="14097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3576637" y="3762375"/>
            <a:ext cx="1733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310187" y="3762375"/>
            <a:ext cx="21431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453312" y="3762375"/>
            <a:ext cx="2571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2166937" y="4371975"/>
            <a:ext cx="14097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3576637" y="4371975"/>
            <a:ext cx="1733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310187" y="4371975"/>
            <a:ext cx="21431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7453312" y="4371975"/>
            <a:ext cx="2571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2166937" y="4981575"/>
            <a:ext cx="14097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3576637" y="4981575"/>
            <a:ext cx="1733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310187" y="4981575"/>
            <a:ext cx="21431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453312" y="4981575"/>
            <a:ext cx="2571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¿POR QUÉ WORKSPACE FOUNDATION?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93776"/>
            <a:ext cx="5286375" cy="254674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571500" y="2593776"/>
            <a:ext cx="52863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$160,000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1500" y="3451026"/>
            <a:ext cx="5286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Ahorro mensual proyectado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71500" y="3984426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(Basado en un equipo de 10 desarrolladores)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629400" y="2889051"/>
            <a:ext cx="46958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Recuperamos </a:t>
            </a:r>
            <a:r>
              <a:rPr b="1" i="0" lang="en-US" sz="18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400 horas mensuales</a:t>
            </a:r>
            <a:r>
              <a:rPr b="0" i="0" lang="en-US" sz="18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de talento especializado para tareas de valor.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6629400" y="3862387"/>
            <a:ext cx="4695825" cy="9525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629400" y="4062412"/>
            <a:ext cx="46958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Escalabilidad: El ROI crece linealmente con el tamaño del equipo.</a:t>
            </a:r>
            <a:endParaRPr/>
          </a:p>
        </p:txBody>
      </p:sp>
      <p:pic>
        <p:nvPicPr>
          <p:cNvPr descr="image.png"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293667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41100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ANÁLISIS DE RETORNO DE INVERSIÓN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629150" y="4762500"/>
            <a:ext cx="2933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NPS del Equipo (Satisfacción Dev): &gt; 50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OBJETIVOS Y KPIS ESTRATÉGICOS (6 MESES)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952500" y="211455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Fuga de Información:</a:t>
            </a:r>
            <a:r>
              <a:rPr b="0" i="0" lang="en-US" sz="16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Bloqueo de secretos mediante políticas de </a:t>
            </a:r>
            <a:r>
              <a:rPr b="1" i="0" lang="en-US" sz="16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secure prompting</a:t>
            </a:r>
            <a:r>
              <a:rPr b="0" i="0" lang="en-US" sz="16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y filtros de GGA.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952500" y="2981325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Dependencia de IA:</a:t>
            </a:r>
            <a:r>
              <a:rPr b="0" i="0" lang="en-US" sz="16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Validación humana obligatoria; la IA asiste, no reemplaza.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952500" y="384810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Costos de API:</a:t>
            </a:r>
            <a:r>
              <a:rPr b="0" i="0" lang="en-US" sz="16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 Auditoría nativa y alertas de presupuesto integradas.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MITIGACIÓN DE RIESGOS Y SEGURIDAD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7" name="Google Shape;23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5265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1942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86200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4637"/>
            <a:ext cx="5286375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4214812"/>
            <a:ext cx="46958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866775" y="3109912"/>
            <a:ext cx="493061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MATERIAL TERMINADO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866775" y="3509962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Documentación exhaustiva de 120+ páginas ya disponible. Curva de aprendizaje optimizada para el "Día 1".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334125" y="2814637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Estructura de Training: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715125" y="3224212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Programa de 4 semanas (Live Coding + Workshops).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6715125" y="3776662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Identificación de "Tech Champions" por equipo.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6715125" y="4329112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Soporte técnico centralizado y comunidad interna.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READINESS: LISTOS PARA EJECUTAR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5" name="Google Shape;25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26231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81476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367212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0725" y="33337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7875" y="33337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25025" y="33337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/>
          <p:nvPr/>
        </p:nvSpPr>
        <p:spPr>
          <a:xfrm>
            <a:off x="571500" y="40957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488632" y="4000500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PILOTO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571500" y="4219575"/>
            <a:ext cx="3314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Implementación en 3 proyectos clave. Validación de infraestructura.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4355782" y="4000500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FEEDBACK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4438650" y="4219575"/>
            <a:ext cx="3314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Ajustes técnicos y entrenamiento intensivo de equipos.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8222932" y="4000500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ROLLOUT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8305800" y="4219575"/>
            <a:ext cx="3314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Despliegue global a todos los equipos de desarrollo.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ROADMAP: RESULTADOS EN 30 DÍAS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7937"/>
            <a:ext cx="35052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2450" y="2547937"/>
            <a:ext cx="34861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4350" y="2547937"/>
            <a:ext cx="348615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2620565" y="1519237"/>
            <a:ext cx="695086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LLAMADA A LA ACCIÓN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2295525" y="4738687"/>
            <a:ext cx="7600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  <a:sym typeface="Lato"/>
              </a:rPr>
              <a:t>INICIO INMEDIATO: DISPONIBILIDAD EN 7 DÍAS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876300" y="2852737"/>
            <a:ext cx="30403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01. APROBAR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876300" y="3205162"/>
            <a:ext cx="2895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Presupuesto operativo inicial para piloto de 4 semanas.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4657725" y="2843212"/>
            <a:ext cx="30403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02. VALIDAR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4657725" y="3195637"/>
            <a:ext cx="2895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Plan de capacitación (Material listo para despliegue).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8429625" y="2843212"/>
            <a:ext cx="30403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6B00"/>
                </a:solidFill>
                <a:latin typeface="Montserrat"/>
                <a:ea typeface="Montserrat"/>
                <a:cs typeface="Montserrat"/>
                <a:sym typeface="Montserrat"/>
              </a:rPr>
              <a:t>03. FIJAR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8429625" y="3195637"/>
            <a:ext cx="2895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Fecha de revisión del primer tablero de métricas de éxito.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B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/>
          <p:nvPr/>
        </p:nvSpPr>
        <p:spPr>
          <a:xfrm>
            <a:off x="571500" y="254317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571500" y="34861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571500" y="3476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571500" y="3476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571500" y="4248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571500" y="4248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2" name="Google Shape;30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17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 txBox="1"/>
          <p:nvPr/>
        </p:nvSpPr>
        <p:spPr>
          <a:xfrm>
            <a:off x="1666875" y="268605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https://img.freepik.com/premium-photo/modern-workspace-aesthetic-with-coffee-laptop-programming-code-colorful-light-environment_1288053-15163.jpg?semt=ais_hybrid&amp;w=740&amp;q=80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1666875" y="310515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305" name="Google Shape;30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29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6"/>
          <p:cNvSpPr txBox="1"/>
          <p:nvPr/>
        </p:nvSpPr>
        <p:spPr>
          <a:xfrm>
            <a:off x="1666875" y="36361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https://www.frontiersin.org/files/Articles/1666480/xml-images/fpsyg-17-1666480-g0001.webp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1666875" y="38695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www.frontiersin.org</a:t>
            </a:r>
            <a:endParaRPr/>
          </a:p>
        </p:txBody>
      </p:sp>
      <p:pic>
        <p:nvPicPr>
          <p:cNvPr descr="image.png" id="308" name="Google Shape;30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862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 txBox="1"/>
          <p:nvPr/>
        </p:nvSpPr>
        <p:spPr>
          <a:xfrm>
            <a:off x="1666875" y="440055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https://elements-resized.envatousercontent.com/elements-video-cover-images/fb5547fe-3125-4783-bfa0-93fa84498fac/video_preview/video_preview_0000.jpg?w=1200&amp;h=630&amp;cf_fit=crop&amp;q=85&amp;format=jpeg&amp;s=38d6734fe70bafcd34c3707f8e75545d4617be2f489d6beaf8f95bd69bbb2023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1666875" y="481965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elements.envato.com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312" name="Google Shape;312;p26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