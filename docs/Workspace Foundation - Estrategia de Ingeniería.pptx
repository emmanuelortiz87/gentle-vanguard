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Light" panose="020F0502020204030203" pitchFamily="34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73449A-9029-4E20-9EE8-6A2E4B6EAA5B}">
  <a:tblStyle styleId="{6073449A-9029-4E20-9EE8-6A2E4B6EAA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52500" y="2191791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CONSEJO DIRECTIVO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52500" y="2544216"/>
            <a:ext cx="1120140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WORKSPACE FOUNDATION: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ESCALANDO LA EXCELENCIA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90625" y="4123283"/>
            <a:ext cx="104298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F2F2F2"/>
                </a:solidFill>
                <a:latin typeface="Lato Light"/>
                <a:ea typeface="Lato Light"/>
                <a:cs typeface="Lato Light"/>
                <a:sym typeface="Lato Light"/>
              </a:rPr>
              <a:t>"No solo construimos código; construimos la plataforma para escalar nuestra ingeniería"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952500" y="4123283"/>
            <a:ext cx="28575" cy="40005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95450"/>
            <a:ext cx="5334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95450"/>
            <a:ext cx="5334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57650"/>
            <a:ext cx="5334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057650"/>
            <a:ext cx="53340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1990725"/>
            <a:ext cx="47434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038475"/>
            <a:ext cx="4743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Reducción en tiempos de setup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1990725"/>
            <a:ext cx="47434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038475"/>
            <a:ext cx="4743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Aumento en productividad neta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4352925"/>
            <a:ext cx="47434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$0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5400675"/>
            <a:ext cx="4743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Costos de licenciamiento plataforma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1775" y="4352925"/>
            <a:ext cx="47434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1-Click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81775" y="5400675"/>
            <a:ext cx="4743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Onboarding instantáneo de talento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RESUMEN EJECUTIVO: IMPACTO DIRECTO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1962150"/>
            <a:ext cx="5286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"Estamos perdiendo </a:t>
            </a:r>
            <a:r>
              <a:rPr lang="en-US" sz="1800" b="1" i="1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4 horas de innovación</a:t>
            </a:r>
            <a:r>
              <a:rPr lang="en-US" sz="1800" b="0" i="1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por cada desarrollador en tareas repetitivas"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52500" y="293370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Configuración manual inconsistente entre equipos técnicos.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380047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Fragmentación de herramientas y ausencia de estándares.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466725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Riesgos de seguridad por fuga de secretos en el código.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PROBLEMA: FRICCIÓN SILENCIOSA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7180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3857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05350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2737"/>
            <a:ext cx="3492549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852737"/>
            <a:ext cx="3492549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852737"/>
            <a:ext cx="3492549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66775" y="381476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ESTANDARIZACIÓN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41671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Elimina el "en mi máquina funciona" mediante entornos agnósticos y replicables.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45074" y="381476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ACELERACIÓN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45074" y="41671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Transforma el onboarding de días a solo minutos, habilitando al talento de inmediato.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23374" y="381476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CALIDAD CONTINUA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423374" y="4167187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Revisión automatizada de cada línea de código antes del repositorio principal.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186112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3186112"/>
            <a:ext cx="3048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571500"/>
            <a:ext cx="1140142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SOLUCIÓN: FÁBRICA DE SOFTWARE AUTOMATIZADA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571500"/>
            <a:ext cx="57150" cy="990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715125" y="211455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Capa Base (Foundation):</a:t>
            </a: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Automatización e infraestructura de bajo nivel.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15125" y="298132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Capa de Herramientas:</a:t>
            </a: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Memoria de IA (Engram) y Guardianes de Calidad (GGA).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15125" y="384810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Valor de Negocio:</a:t>
            </a: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Entrega acelerada de proyectos y productos finales.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ARQUITECTURA ESTRATÉGICA EN 3 NIVELES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15265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01942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86200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7837"/>
            <a:ext cx="42672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19700" y="1747837"/>
            <a:ext cx="64008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91062"/>
            <a:ext cx="110490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866775" y="2747962"/>
            <a:ext cx="386048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MULTI-PROVIDER AI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66775" y="3100387"/>
            <a:ext cx="36766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Compatible con Claude, OpenAI y modelos locales (Ollama), evitando dependencia de un solo proveedor.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514975" y="2747962"/>
            <a:ext cx="610076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GENTLEMAN GUARDIAN ANGEL (GGA)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514975" y="3100387"/>
            <a:ext cx="5810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Code review automático con IA para asegurar seguridad y estándares antes de cada commit.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4986337"/>
            <a:ext cx="1098137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AGNOSTICISMO TOTAL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66775" y="5291137"/>
            <a:ext cx="10458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Funcionalidad idéntica en entornos Windows, Mac o Linux, garantizando la movilidad del desarrollador.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119312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14975" y="2119312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CAPACIDADES Y VENTAJAS COMPETITIVAS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3933825" y="2138362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Propiedad intelectual propia vs. Dependencia de terceros</a:t>
            </a:r>
            <a:endParaRPr/>
          </a:p>
        </p:txBody>
      </p:sp>
      <p:graphicFrame>
        <p:nvGraphicFramePr>
          <p:cNvPr id="181" name="Google Shape;181;p19"/>
          <p:cNvGraphicFramePr/>
          <p:nvPr>
            <p:extLst>
              <p:ext uri="{D42A27DB-BD31-4B8C-83A1-F6EECF244321}">
                <p14:modId xmlns:p14="http://schemas.microsoft.com/office/powerpoint/2010/main" val="2715638286"/>
              </p:ext>
            </p:extLst>
          </p:nvPr>
        </p:nvGraphicFramePr>
        <p:xfrm>
          <a:off x="2166937" y="2586037"/>
          <a:ext cx="7858125" cy="3009875"/>
        </p:xfrm>
        <a:graphic>
          <a:graphicData uri="http://schemas.openxmlformats.org/drawingml/2006/table">
            <a:tbl>
              <a:tblPr firstRow="1" bandRow="1">
                <a:noFill/>
                <a:tableStyleId>{6073449A-9029-4E20-9EE8-6A2E4B6EAA5B}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Criterio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Status Quo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Copilot / Amazon Q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Workspace Foundation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Coste Licencia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$0 (Incapacidad)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$19-30/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/user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$0 (Open Source/Custom)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Gobernanza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Nula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Limitada (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Cerrada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Auditoría Nativa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IP &amp; Lock-in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Dependencia Total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Alto Vendor Lock-in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Propiedad</a:t>
                      </a: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Corporativa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Privacidad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Sujeta a Terceros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Local/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Híbrido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2" name="Google Shape;182;p19"/>
          <p:cNvSpPr/>
          <p:nvPr/>
        </p:nvSpPr>
        <p:spPr>
          <a:xfrm>
            <a:off x="2166937" y="3152775"/>
            <a:ext cx="1409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576637" y="3152775"/>
            <a:ext cx="1733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310187" y="3152775"/>
            <a:ext cx="2143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453312" y="3152775"/>
            <a:ext cx="2571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166937" y="3762375"/>
            <a:ext cx="1409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576637" y="3762375"/>
            <a:ext cx="1733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310187" y="3762375"/>
            <a:ext cx="2143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453312" y="3762375"/>
            <a:ext cx="2571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166937" y="4371975"/>
            <a:ext cx="1409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576637" y="4371975"/>
            <a:ext cx="1733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310187" y="4371975"/>
            <a:ext cx="2143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453312" y="4371975"/>
            <a:ext cx="2571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2166937" y="4981575"/>
            <a:ext cx="1409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576637" y="4981575"/>
            <a:ext cx="1733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310187" y="4981575"/>
            <a:ext cx="2143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453312" y="4981575"/>
            <a:ext cx="2571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¿POR QUÉ WORKSPACE FOUNDATION?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93776"/>
            <a:ext cx="5286375" cy="254674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71500" y="2593776"/>
            <a:ext cx="528637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$160,000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3451026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Ahorro mensual proyectado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3984426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(Basado en un equipo de 10 desarrolladores)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29400" y="2889051"/>
            <a:ext cx="46958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Recuperamos </a:t>
            </a:r>
            <a:r>
              <a:rPr lang="en-US" sz="180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400 horas mensuales</a:t>
            </a:r>
            <a:r>
              <a:rPr lang="en-US" sz="180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de talento especializado para tareas de valor.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629400" y="3862387"/>
            <a:ext cx="4695825" cy="952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629400" y="4062412"/>
            <a:ext cx="46958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Escalabilidad: El ROI crece linealmente con el tamaño del equipo.</a:t>
            </a:r>
            <a:endParaRPr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293667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41100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ANÁLISIS DE RETORNO DE INVERSIÓN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629150" y="4762500"/>
            <a:ext cx="2933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NPS del Equipo (Satisfacción Dev): &gt; 50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OBJETIVOS Y KPIS ESTRATÉGICOS (6 MESES)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952500" y="211455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Fuga de Información:</a:t>
            </a: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Bloqueo de secretos mediante políticas de </a:t>
            </a:r>
            <a:r>
              <a:rPr lang="en-US" sz="165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secure prompting</a:t>
            </a: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y filtros de GGA.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952500" y="298132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Dependencia de IA:</a:t>
            </a: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Validación humana obligatoria; la IA asiste, no reemplaza.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952500" y="384810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Costos de API:</a:t>
            </a: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Auditoría nativa y alertas de presupuesto integradas.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MITIGACIÓN DE RIESGOS Y SEGURIDAD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5265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1942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86200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4637"/>
            <a:ext cx="5286375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4214812"/>
            <a:ext cx="46958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866775" y="3109912"/>
            <a:ext cx="493061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MATERIAL TERMINADO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866775" y="3509962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Documentación exhaustiva de 120+ páginas ya disponible. Curva de aprendizaje optimizada para el "Día 1".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334125" y="281463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Estructura de Training: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715125" y="3224212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Programa de 4 semanas (Live Coding + Workshops).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715125" y="3776662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Identificación de "Tech Champions" por equipo.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715125" y="4329112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Soporte técnico centralizado y comunidad interna.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READINESS: LISTOS PARA EJECUTAR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26231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1476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367212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0725" y="3333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875" y="3333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25025" y="33337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/>
          <p:nvPr/>
        </p:nvSpPr>
        <p:spPr>
          <a:xfrm>
            <a:off x="571500" y="40957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88632" y="4000500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PILOTO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71500" y="4219575"/>
            <a:ext cx="3314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Implementación en 3 proyectos clave. Validación de infraestructura.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4355782" y="4000500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FEEDBACK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4438650" y="4219575"/>
            <a:ext cx="3314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Ajustes técnicos y entrenamiento intensivo de equipos.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222932" y="4000500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ROLLOUT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8305800" y="4219575"/>
            <a:ext cx="3314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Despliegue global a todos los equipos de desarrollo.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ROADMAP: RESULTADOS EN 30 DÍAS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B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7937"/>
            <a:ext cx="35052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2450" y="2547937"/>
            <a:ext cx="34861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34350" y="2547937"/>
            <a:ext cx="348615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2620565" y="1519237"/>
            <a:ext cx="6950868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LLAMADA A LA ACCIÓN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2295525" y="4738687"/>
            <a:ext cx="7600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INICIO INMEDIATO: DISPONIBILIDAD EN 7 DÍAS</a:t>
            </a:r>
            <a:endParaRPr dirty="0"/>
          </a:p>
        </p:txBody>
      </p:sp>
      <p:sp>
        <p:nvSpPr>
          <p:cNvPr id="285" name="Google Shape;285;p25"/>
          <p:cNvSpPr txBox="1"/>
          <p:nvPr/>
        </p:nvSpPr>
        <p:spPr>
          <a:xfrm>
            <a:off x="876300" y="2852737"/>
            <a:ext cx="30403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01. APROBAR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876300" y="3205162"/>
            <a:ext cx="2895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Presupuesto operativo inicial para piloto de 4 semanas.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4657725" y="2843212"/>
            <a:ext cx="30403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02. VALIDAR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4657725" y="3195637"/>
            <a:ext cx="2895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Plan de capacitación (Material listo para despliegue).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8429625" y="2843212"/>
            <a:ext cx="30403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03. FIJAR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8429625" y="3195637"/>
            <a:ext cx="2895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Fecha de revisión del primer tablero de métricas de éxito.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/>
          <p:nvPr/>
        </p:nvSpPr>
        <p:spPr>
          <a:xfrm>
            <a:off x="762000" y="2468909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762000" y="345177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4167532" y="2479957"/>
            <a:ext cx="10951368" cy="53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15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¿</a:t>
            </a:r>
            <a:r>
              <a:rPr kumimoji="0" lang="en-US" sz="3150" b="1" i="0" u="none" strike="noStrike" kern="0" cap="none" spc="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Preguntas</a:t>
            </a:r>
            <a:r>
              <a:rPr kumimoji="0" lang="en-US" sz="315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4072282" y="2526600"/>
            <a:ext cx="95250" cy="43993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3A2D1CC-BE2A-0061-F58B-9F95A27C4782}"/>
              </a:ext>
            </a:extLst>
          </p:cNvPr>
          <p:cNvSpPr txBox="1"/>
          <p:nvPr/>
        </p:nvSpPr>
        <p:spPr>
          <a:xfrm>
            <a:off x="108407" y="3397069"/>
            <a:ext cx="112772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400">
                <a:solidFill>
                  <a:srgbClr val="B4BEC8"/>
                </a:solidFill>
                <a:latin typeface="Calibri"/>
              </a:defRPr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B4BEC8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Workspace Foundation</a:t>
            </a:r>
            <a:b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B4BEC8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</a:br>
            <a:r>
              <a:rPr kumimoji="0" sz="2400" b="0" i="0" u="none" strike="noStrike" kern="0" cap="none" spc="0" normalizeH="0" baseline="0" noProof="0" dirty="0" err="1">
                <a:ln>
                  <a:noFill/>
                </a:ln>
                <a:solidFill>
                  <a:srgbClr val="B4BEC8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Estandarizar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B4BEC8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. </a:t>
            </a:r>
            <a:r>
              <a:rPr kumimoji="0" sz="2400" b="0" i="0" u="none" strike="noStrike" kern="0" cap="none" spc="0" normalizeH="0" baseline="0" noProof="0" dirty="0" err="1">
                <a:ln>
                  <a:noFill/>
                </a:ln>
                <a:solidFill>
                  <a:srgbClr val="B4BEC8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Acelerar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B4BEC8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. </a:t>
            </a:r>
            <a:r>
              <a:rPr kumimoji="0" sz="2400" b="0" i="0" u="none" strike="noStrike" kern="0" cap="none" spc="0" normalizeH="0" baseline="0" noProof="0" dirty="0" err="1">
                <a:ln>
                  <a:noFill/>
                </a:ln>
                <a:solidFill>
                  <a:srgbClr val="B4BEC8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Medir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B4BEC8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5563AA-DB24-58AE-01A3-A5A6BBD5D29B}"/>
              </a:ext>
            </a:extLst>
          </p:cNvPr>
          <p:cNvSpPr/>
          <p:nvPr/>
        </p:nvSpPr>
        <p:spPr>
          <a:xfrm>
            <a:off x="4680406" y="4966997"/>
            <a:ext cx="2133295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D8FA5F5-1D55-D0EF-C39C-987B85DB6C12}"/>
              </a:ext>
            </a:extLst>
          </p:cNvPr>
          <p:cNvSpPr txBox="1"/>
          <p:nvPr/>
        </p:nvSpPr>
        <p:spPr>
          <a:xfrm>
            <a:off x="2394405" y="5743174"/>
            <a:ext cx="6705295" cy="3693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dirty="0"/>
              <a:t>Podemos </a:t>
            </a:r>
            <a:r>
              <a:rPr dirty="0" err="1"/>
              <a:t>iniciar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1 </a:t>
            </a:r>
            <a:r>
              <a:rPr dirty="0" err="1"/>
              <a:t>semana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597</Words>
  <Application>Microsoft Office PowerPoint</Application>
  <PresentationFormat>Panorámica</PresentationFormat>
  <Paragraphs>94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Calibri</vt:lpstr>
      <vt:lpstr>Montserrat</vt:lpstr>
      <vt:lpstr>Arial</vt:lpstr>
      <vt:lpstr>Lato</vt:lpstr>
      <vt:lpstr>Lato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Emmanuel Ortiz Gutierrez</cp:lastModifiedBy>
  <cp:revision>3</cp:revision>
  <dcterms:modified xsi:type="dcterms:W3CDTF">2026-04-09T15:22:03Z</dcterms:modified>
</cp:coreProperties>
</file>